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62" r:id="rId3"/>
    <p:sldId id="263" r:id="rId4"/>
    <p:sldId id="280" r:id="rId5"/>
    <p:sldId id="291" r:id="rId6"/>
    <p:sldId id="292" r:id="rId7"/>
    <p:sldId id="293" r:id="rId8"/>
    <p:sldId id="294" r:id="rId9"/>
    <p:sldId id="296" r:id="rId10"/>
    <p:sldId id="297" r:id="rId11"/>
    <p:sldId id="298" r:id="rId12"/>
    <p:sldId id="299" r:id="rId13"/>
    <p:sldId id="300" r:id="rId14"/>
    <p:sldId id="301" r:id="rId15"/>
    <p:sldId id="303" r:id="rId16"/>
    <p:sldId id="302" r:id="rId17"/>
    <p:sldId id="304" r:id="rId18"/>
    <p:sldId id="305" r:id="rId19"/>
    <p:sldId id="306" r:id="rId20"/>
    <p:sldId id="307" r:id="rId21"/>
    <p:sldId id="308" r:id="rId22"/>
    <p:sldId id="309" r:id="rId23"/>
    <p:sldId id="28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2511"/>
    <a:srgbClr val="8C13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324" y="132"/>
      </p:cViewPr>
      <p:guideLst>
        <p:guide orient="horz" pos="221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3581199 w 6096000"/>
              <a:gd name="connsiteY1" fmla="*/ 0 h 6858000"/>
              <a:gd name="connsiteX2" fmla="*/ 6096000 w 6096000"/>
              <a:gd name="connsiteY2" fmla="*/ 2514801 h 6858000"/>
              <a:gd name="connsiteX3" fmla="*/ 6096000 w 6096000"/>
              <a:gd name="connsiteY3" fmla="*/ 2602383 h 6858000"/>
              <a:gd name="connsiteX4" fmla="*/ 1840383 w 6096000"/>
              <a:gd name="connsiteY4" fmla="*/ 6858000 h 6858000"/>
              <a:gd name="connsiteX5" fmla="*/ 0 w 6096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3581199" y="0"/>
                </a:lnTo>
                <a:lnTo>
                  <a:pt x="6096000" y="2514801"/>
                </a:lnTo>
                <a:lnTo>
                  <a:pt x="6096000" y="2602383"/>
                </a:lnTo>
                <a:lnTo>
                  <a:pt x="1840383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9332685" y="569685"/>
            <a:ext cx="2859314" cy="5718628"/>
          </a:xfrm>
          <a:custGeom>
            <a:avLst/>
            <a:gdLst>
              <a:gd name="connsiteX0" fmla="*/ 2859314 w 2859314"/>
              <a:gd name="connsiteY0" fmla="*/ 0 h 5718628"/>
              <a:gd name="connsiteX1" fmla="*/ 2859314 w 2859314"/>
              <a:gd name="connsiteY1" fmla="*/ 5718628 h 5718628"/>
              <a:gd name="connsiteX2" fmla="*/ 0 w 2859314"/>
              <a:gd name="connsiteY2" fmla="*/ 2859314 h 5718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9314" h="5718628">
                <a:moveTo>
                  <a:pt x="2859314" y="0"/>
                </a:moveTo>
                <a:lnTo>
                  <a:pt x="2859314" y="5718628"/>
                </a:lnTo>
                <a:lnTo>
                  <a:pt x="0" y="2859314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0" y="2410511"/>
            <a:ext cx="5549154" cy="3093071"/>
          </a:xfrm>
          <a:custGeom>
            <a:avLst/>
            <a:gdLst>
              <a:gd name="connsiteX0" fmla="*/ 0 w 5549154"/>
              <a:gd name="connsiteY0" fmla="*/ 0 h 3093071"/>
              <a:gd name="connsiteX1" fmla="*/ 5549154 w 5549154"/>
              <a:gd name="connsiteY1" fmla="*/ 0 h 3093071"/>
              <a:gd name="connsiteX2" fmla="*/ 5549154 w 5549154"/>
              <a:gd name="connsiteY2" fmla="*/ 3093071 h 3093071"/>
              <a:gd name="connsiteX3" fmla="*/ 0 w 5549154"/>
              <a:gd name="connsiteY3" fmla="*/ 3093071 h 3093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9154" h="3093071">
                <a:moveTo>
                  <a:pt x="0" y="0"/>
                </a:moveTo>
                <a:lnTo>
                  <a:pt x="5549154" y="0"/>
                </a:lnTo>
                <a:lnTo>
                  <a:pt x="5549154" y="3093071"/>
                </a:lnTo>
                <a:lnTo>
                  <a:pt x="0" y="30930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7531100" y="2080904"/>
            <a:ext cx="3595996" cy="3595996"/>
          </a:xfrm>
          <a:custGeom>
            <a:avLst/>
            <a:gdLst>
              <a:gd name="connsiteX0" fmla="*/ 1797998 w 3595996"/>
              <a:gd name="connsiteY0" fmla="*/ 0 h 3595996"/>
              <a:gd name="connsiteX1" fmla="*/ 3595996 w 3595996"/>
              <a:gd name="connsiteY1" fmla="*/ 1797998 h 3595996"/>
              <a:gd name="connsiteX2" fmla="*/ 1797998 w 3595996"/>
              <a:gd name="connsiteY2" fmla="*/ 3595996 h 3595996"/>
              <a:gd name="connsiteX3" fmla="*/ 0 w 3595996"/>
              <a:gd name="connsiteY3" fmla="*/ 1797998 h 3595996"/>
              <a:gd name="connsiteX4" fmla="*/ 1797998 w 3595996"/>
              <a:gd name="connsiteY4" fmla="*/ 0 h 3595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5996" h="3595996">
                <a:moveTo>
                  <a:pt x="1797998" y="0"/>
                </a:moveTo>
                <a:cubicBezTo>
                  <a:pt x="2791005" y="0"/>
                  <a:pt x="3595996" y="804991"/>
                  <a:pt x="3595996" y="1797998"/>
                </a:cubicBezTo>
                <a:cubicBezTo>
                  <a:pt x="3595996" y="2791005"/>
                  <a:pt x="2791005" y="3595996"/>
                  <a:pt x="1797998" y="3595996"/>
                </a:cubicBezTo>
                <a:cubicBezTo>
                  <a:pt x="804991" y="3595996"/>
                  <a:pt x="0" y="2791005"/>
                  <a:pt x="0" y="1797998"/>
                </a:cubicBezTo>
                <a:cubicBezTo>
                  <a:pt x="0" y="804991"/>
                  <a:pt x="804991" y="0"/>
                  <a:pt x="1797998" y="0"/>
                </a:cubicBez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1359567" y="2222500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1"/>
          </p:nvPr>
        </p:nvSpPr>
        <p:spPr>
          <a:xfrm>
            <a:off x="5181600" y="2222500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9003633" y="2222500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D175-54C2-4952-B74C-311845E9B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E17-DD67-45B4-BC84-A81DD4A5B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05C20-129F-4C75-B6C8-9FEE15FC23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7445-AA7B-4996-AF1E-B981E5FC3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B206A-531D-445F-8876-C326C05B06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46E3-7DEC-4ACC-94F8-6FE93FF17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1" Type="http://schemas.openxmlformats.org/officeDocument/2006/relationships/slideLayout" Target="../slideLayouts/slideLayout8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.jpeg"/><Relationship Id="rId3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1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jpeg"/><Relationship Id="rId1" Type="http://schemas.openxmlformats.org/officeDocument/2006/relationships/tags" Target="../tags/tag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jpeg"/><Relationship Id="rId1" Type="http://schemas.openxmlformats.org/officeDocument/2006/relationships/tags" Target="../tags/tag4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3.jpeg"/><Relationship Id="rId1" Type="http://schemas.openxmlformats.org/officeDocument/2006/relationships/tags" Target="../tags/tag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1" Type="http://schemas.openxmlformats.org/officeDocument/2006/relationships/tags" Target="../tags/tag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1" Type="http://schemas.openxmlformats.org/officeDocument/2006/relationships/tags" Target="../tags/tag4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8.jpeg"/><Relationship Id="rId1" Type="http://schemas.openxmlformats.org/officeDocument/2006/relationships/tags" Target="../tags/tag4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-3984158" y="0"/>
            <a:ext cx="7999263" cy="6858002"/>
          </a:xfrm>
          <a:custGeom>
            <a:avLst/>
            <a:gdLst>
              <a:gd name="connsiteX0" fmla="*/ 1740820 w 7999263"/>
              <a:gd name="connsiteY0" fmla="*/ 0 h 6858002"/>
              <a:gd name="connsiteX1" fmla="*/ 5440670 w 7999263"/>
              <a:gd name="connsiteY1" fmla="*/ 0 h 6858002"/>
              <a:gd name="connsiteX2" fmla="*/ 7999263 w 7999263"/>
              <a:gd name="connsiteY2" fmla="*/ 2558593 h 6858002"/>
              <a:gd name="connsiteX3" fmla="*/ 3699852 w 7999263"/>
              <a:gd name="connsiteY3" fmla="*/ 6858002 h 6858002"/>
              <a:gd name="connsiteX4" fmla="*/ 0 w 7999263"/>
              <a:gd name="connsiteY4" fmla="*/ 6858002 h 6858002"/>
              <a:gd name="connsiteX5" fmla="*/ 4299412 w 7999263"/>
              <a:gd name="connsiteY5" fmla="*/ 2558593 h 6858002"/>
              <a:gd name="connsiteX6" fmla="*/ 1740820 w 7999263"/>
              <a:gd name="connsiteY6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99263" h="6858002">
                <a:moveTo>
                  <a:pt x="1740820" y="0"/>
                </a:moveTo>
                <a:lnTo>
                  <a:pt x="5440670" y="0"/>
                </a:lnTo>
                <a:lnTo>
                  <a:pt x="7999263" y="2558593"/>
                </a:lnTo>
                <a:lnTo>
                  <a:pt x="3699852" y="6858002"/>
                </a:lnTo>
                <a:lnTo>
                  <a:pt x="0" y="6858002"/>
                </a:lnTo>
                <a:lnTo>
                  <a:pt x="4299412" y="2558593"/>
                </a:lnTo>
                <a:lnTo>
                  <a:pt x="1740820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-3984158" y="2563569"/>
            <a:ext cx="6144362" cy="4294433"/>
          </a:xfrm>
          <a:custGeom>
            <a:avLst/>
            <a:gdLst>
              <a:gd name="connsiteX0" fmla="*/ 3425035 w 4900446"/>
              <a:gd name="connsiteY0" fmla="*/ 0 h 3425032"/>
              <a:gd name="connsiteX1" fmla="*/ 4900446 w 4900446"/>
              <a:gd name="connsiteY1" fmla="*/ 1475411 h 3425032"/>
              <a:gd name="connsiteX2" fmla="*/ 2950823 w 4900446"/>
              <a:gd name="connsiteY2" fmla="*/ 3425032 h 3425032"/>
              <a:gd name="connsiteX3" fmla="*/ 0 w 4900446"/>
              <a:gd name="connsiteY3" fmla="*/ 3425032 h 3425032"/>
              <a:gd name="connsiteX4" fmla="*/ 3425035 w 4900446"/>
              <a:gd name="connsiteY4" fmla="*/ 0 h 3425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0446" h="3425032">
                <a:moveTo>
                  <a:pt x="3425035" y="0"/>
                </a:moveTo>
                <a:lnTo>
                  <a:pt x="4900446" y="1475411"/>
                </a:lnTo>
                <a:lnTo>
                  <a:pt x="2950823" y="3425032"/>
                </a:lnTo>
                <a:lnTo>
                  <a:pt x="0" y="3425032"/>
                </a:lnTo>
                <a:lnTo>
                  <a:pt x="3425035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5587365" y="4845685"/>
            <a:ext cx="62623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Giảng viên hướng dẫn: </a:t>
            </a:r>
            <a:r>
              <a:rPr lang="vi-V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ThS Nguyễn Ngọc Đan Thanh</a:t>
            </a:r>
            <a:endParaRPr lang="vi-VN" alt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vi-V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Sinh viên thực hiện: </a:t>
            </a:r>
            <a:r>
              <a:rPr lang="vi-V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Trần Hoàng Sang</a:t>
            </a:r>
            <a:endParaRPr lang="vi-VN" altLang="en-US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vi-V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MSSV: </a:t>
            </a:r>
            <a:r>
              <a:rPr lang="vi-V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110123168</a:t>
            </a:r>
            <a:endParaRPr lang="vi-VN" altLang="en-US" u="heavy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vi-VN" altLang="en-US" u="heavy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015105" y="2401570"/>
            <a:ext cx="7959725" cy="2054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vi-VN" altLang="en-US" sz="4000" b="1" dirty="0">
                <a:gradFill>
                  <a:gsLst>
                    <a:gs pos="0">
                      <a:srgbClr val="8C1302"/>
                    </a:gs>
                    <a:gs pos="100000">
                      <a:srgbClr val="DE2511"/>
                    </a:gs>
                  </a:gsLst>
                  <a:lin ang="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THIẾT KẾ VÀ XÂY DỰNG WEBSITE BÁN ĐIỆN THOẠI TRỰC TUYẾN</a:t>
            </a:r>
            <a:endParaRPr lang="vi-VN" altLang="en-US" sz="4000" b="1" dirty="0">
              <a:gradFill>
                <a:gsLst>
                  <a:gs pos="0">
                    <a:srgbClr val="8C1302"/>
                  </a:gs>
                  <a:gs pos="100000">
                    <a:srgbClr val="DE2511"/>
                  </a:gs>
                </a:gsLst>
                <a:lin ang="0" scaled="0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9944099" y="0"/>
            <a:ext cx="2227104" cy="1113552"/>
          </a:xfrm>
          <a:custGeom>
            <a:avLst/>
            <a:gdLst>
              <a:gd name="connsiteX0" fmla="*/ 0 w 2227104"/>
              <a:gd name="connsiteY0" fmla="*/ 0 h 1113552"/>
              <a:gd name="connsiteX1" fmla="*/ 2227104 w 2227104"/>
              <a:gd name="connsiteY1" fmla="*/ 0 h 1113552"/>
              <a:gd name="connsiteX2" fmla="*/ 1113552 w 2227104"/>
              <a:gd name="connsiteY2" fmla="*/ 1113552 h 111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7104" h="1113552">
                <a:moveTo>
                  <a:pt x="0" y="0"/>
                </a:moveTo>
                <a:lnTo>
                  <a:pt x="2227104" y="0"/>
                </a:lnTo>
                <a:lnTo>
                  <a:pt x="1113552" y="11135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5494655" y="854710"/>
            <a:ext cx="500062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altLang="vi-VN" sz="3000" b="1" dirty="0">
                <a:solidFill>
                  <a:srgbClr val="DE251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ĐỒ ÁN CƠ SỞ NGÀNH</a:t>
            </a:r>
            <a:endParaRPr lang="vi-VN" altLang="vi-VN" sz="3000" b="1" dirty="0">
              <a:solidFill>
                <a:srgbClr val="DE251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3893331" y="565831"/>
            <a:ext cx="4405338" cy="866324"/>
          </a:xfrm>
          <a:custGeom>
            <a:avLst/>
            <a:gdLst>
              <a:gd name="connsiteX0" fmla="*/ 3305083 w 4027941"/>
              <a:gd name="connsiteY0" fmla="*/ 0 h 792109"/>
              <a:gd name="connsiteX1" fmla="*/ 3732420 w 4027941"/>
              <a:gd name="connsiteY1" fmla="*/ 0 h 792109"/>
              <a:gd name="connsiteX2" fmla="*/ 4027941 w 4027941"/>
              <a:gd name="connsiteY2" fmla="*/ 295521 h 792109"/>
              <a:gd name="connsiteX3" fmla="*/ 3531355 w 4027941"/>
              <a:gd name="connsiteY3" fmla="*/ 792107 h 792109"/>
              <a:gd name="connsiteX4" fmla="*/ 2930778 w 4027941"/>
              <a:gd name="connsiteY4" fmla="*/ 792107 h 792109"/>
              <a:gd name="connsiteX5" fmla="*/ 2445003 w 4027941"/>
              <a:gd name="connsiteY5" fmla="*/ 792107 h 792109"/>
              <a:gd name="connsiteX6" fmla="*/ 2445003 w 4027941"/>
              <a:gd name="connsiteY6" fmla="*/ 792108 h 792109"/>
              <a:gd name="connsiteX7" fmla="*/ 722857 w 4027941"/>
              <a:gd name="connsiteY7" fmla="*/ 792108 h 792109"/>
              <a:gd name="connsiteX8" fmla="*/ 722858 w 4027941"/>
              <a:gd name="connsiteY8" fmla="*/ 792109 h 792109"/>
              <a:gd name="connsiteX9" fmla="*/ 295521 w 4027941"/>
              <a:gd name="connsiteY9" fmla="*/ 792109 h 792109"/>
              <a:gd name="connsiteX10" fmla="*/ 0 w 4027941"/>
              <a:gd name="connsiteY10" fmla="*/ 496588 h 792109"/>
              <a:gd name="connsiteX11" fmla="*/ 496587 w 4027941"/>
              <a:gd name="connsiteY11" fmla="*/ 1 h 792109"/>
              <a:gd name="connsiteX12" fmla="*/ 609600 w 4027941"/>
              <a:gd name="connsiteY12" fmla="*/ 1 h 792109"/>
              <a:gd name="connsiteX13" fmla="*/ 3305084 w 4027941"/>
              <a:gd name="connsiteY13" fmla="*/ 1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27941" h="792109">
                <a:moveTo>
                  <a:pt x="3305083" y="0"/>
                </a:moveTo>
                <a:lnTo>
                  <a:pt x="3732420" y="0"/>
                </a:lnTo>
                <a:lnTo>
                  <a:pt x="4027941" y="295521"/>
                </a:lnTo>
                <a:lnTo>
                  <a:pt x="3531355" y="792107"/>
                </a:lnTo>
                <a:lnTo>
                  <a:pt x="2930778" y="792107"/>
                </a:lnTo>
                <a:lnTo>
                  <a:pt x="2445003" y="792107"/>
                </a:lnTo>
                <a:lnTo>
                  <a:pt x="2445003" y="792108"/>
                </a:lnTo>
                <a:lnTo>
                  <a:pt x="722857" y="792108"/>
                </a:lnTo>
                <a:lnTo>
                  <a:pt x="722858" y="792109"/>
                </a:lnTo>
                <a:lnTo>
                  <a:pt x="295521" y="792109"/>
                </a:lnTo>
                <a:lnTo>
                  <a:pt x="0" y="496588"/>
                </a:lnTo>
                <a:lnTo>
                  <a:pt x="496587" y="1"/>
                </a:lnTo>
                <a:lnTo>
                  <a:pt x="609600" y="1"/>
                </a:lnTo>
                <a:lnTo>
                  <a:pt x="3305084" y="1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307841" y="768161"/>
            <a:ext cx="3576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de-DE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NỘI DUNG TRÌNH BÀI</a:t>
            </a:r>
            <a:endParaRPr lang="vi-VN" altLang="de-DE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1"/>
            </p:custDataLst>
          </p:nvPr>
        </p:nvGrpSpPr>
        <p:grpSpPr>
          <a:xfrm>
            <a:off x="783590" y="1874520"/>
            <a:ext cx="2018665" cy="813435"/>
            <a:chOff x="1402909" y="2045249"/>
            <a:chExt cx="1842382" cy="1371052"/>
          </a:xfrm>
        </p:grpSpPr>
        <p:sp>
          <p:nvSpPr>
            <p:cNvPr id="7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2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3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Chương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4"/>
            </p:custDataLst>
          </p:nvPr>
        </p:nvSpPr>
        <p:spPr>
          <a:xfrm>
            <a:off x="3018155" y="2131695"/>
            <a:ext cx="3016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Tổng quan đề tài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5"/>
            </p:custDataLst>
          </p:nvPr>
        </p:nvSpPr>
        <p:spPr>
          <a:xfrm>
            <a:off x="8413235" y="3504047"/>
            <a:ext cx="34905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Kết luận và hướng phát triển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6"/>
            </p:custDataLst>
          </p:nvPr>
        </p:nvSpPr>
        <p:spPr>
          <a:xfrm>
            <a:off x="3018155" y="3609340"/>
            <a:ext cx="30194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Nghiên cứu lý thuyết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7"/>
            </p:custDataLst>
          </p:nvPr>
        </p:nvSpPr>
        <p:spPr>
          <a:xfrm>
            <a:off x="3018155" y="5127625"/>
            <a:ext cx="32410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Hiện thực hóa nghiên cứu 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8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8"/>
            </p:custDataLst>
          </p:nvPr>
        </p:nvGrpSpPr>
        <p:grpSpPr>
          <a:xfrm>
            <a:off x="6248400" y="3406140"/>
            <a:ext cx="2019935" cy="774065"/>
            <a:chOff x="1402909" y="2045249"/>
            <a:chExt cx="1842382" cy="1371052"/>
          </a:xfrm>
        </p:grpSpPr>
        <p:sp>
          <p:nvSpPr>
            <p:cNvPr id="8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9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0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Chương 5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11"/>
            </p:custDataLst>
          </p:nvPr>
        </p:nvGrpSpPr>
        <p:grpSpPr>
          <a:xfrm>
            <a:off x="784225" y="3456305"/>
            <a:ext cx="2018665" cy="774065"/>
            <a:chOff x="1402909" y="2045249"/>
            <a:chExt cx="1842382" cy="1371052"/>
          </a:xfrm>
        </p:grpSpPr>
        <p:sp>
          <p:nvSpPr>
            <p:cNvPr id="9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2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3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Chương 2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14"/>
            </p:custDataLst>
          </p:nvPr>
        </p:nvGrpSpPr>
        <p:grpSpPr>
          <a:xfrm>
            <a:off x="784225" y="4998720"/>
            <a:ext cx="2018030" cy="774065"/>
            <a:chOff x="1402909" y="2045249"/>
            <a:chExt cx="1842382" cy="1371052"/>
          </a:xfrm>
        </p:grpSpPr>
        <p:sp>
          <p:nvSpPr>
            <p:cNvPr id="9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5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6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Chương 3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17"/>
            </p:custDataLst>
          </p:nvPr>
        </p:nvGrpSpPr>
        <p:grpSpPr>
          <a:xfrm>
            <a:off x="6315075" y="1880235"/>
            <a:ext cx="1952625" cy="774065"/>
            <a:chOff x="1402909" y="2045249"/>
            <a:chExt cx="1842382" cy="1371052"/>
          </a:xfrm>
        </p:grpSpPr>
        <p:sp>
          <p:nvSpPr>
            <p:cNvPr id="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8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9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Chương 4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0"/>
            </p:custDataLst>
          </p:nvPr>
        </p:nvSpPr>
        <p:spPr>
          <a:xfrm>
            <a:off x="8412987" y="1981510"/>
            <a:ext cx="22390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Kết quả đạt được 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474091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438" y="466692"/>
            <a:ext cx="3835146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1. Tổng quan đề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586105" y="1534160"/>
            <a:ext cx="2688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Lý do chọn đề tài</a:t>
            </a:r>
            <a:endParaRPr lang="vi-VN" altLang="en-US" sz="2400" b="1" dirty="0">
              <a:solidFill>
                <a:schemeClr val="tx1"/>
              </a:solidFill>
              <a:effectLst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586105" y="2089785"/>
            <a:ext cx="4747895" cy="4505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5000"/>
              </a:lnSpc>
            </a:pP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Trong thời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ại 4.0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n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ư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ời tiêu dùng có nhu cầu mua sắm trực tuyến 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tăng mạnh.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iện thoại di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ộng là một trong những mặt 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hàng có lượt tìm kiếm trên Internet nhiều nhất. Vì thế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website bán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iện thoại trực tuyến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được xây dựng để cung cấp cho người dùng một giao diện dễ nhìn, dễ sử dụng.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3"/>
            </p:custDataLst>
          </p:nvPr>
        </p:nvSpPr>
        <p:spPr>
          <a:xfrm>
            <a:off x="5958840" y="1534160"/>
            <a:ext cx="3675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Mục tiêu của đề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tài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4"/>
            </p:custDataLst>
          </p:nvPr>
        </p:nvSpPr>
        <p:spPr>
          <a:xfrm>
            <a:off x="5958840" y="2089785"/>
            <a:ext cx="5837555" cy="401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5000"/>
              </a:lnSpc>
            </a:pP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Thiết kế giao diện website thân thiện, 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dễ nhìn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>
              <a:lnSpc>
                <a:spcPct val="145000"/>
              </a:lnSpc>
            </a:pP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Xây dựng cơ sở dữ liệu quản l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ý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danh mục sản phẩm,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ơn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ặt hàng.</a:t>
            </a: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>
              <a:lnSpc>
                <a:spcPct val="145000"/>
              </a:lnSpc>
            </a:pP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Phát triển các chức n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ă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ng cơ bản nh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ư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: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đă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ng nhập quản trị, thêm/sửa/xóa sản phẩm, giỏ hàng và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ặt hàng trực tuyến.</a:t>
            </a: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>
              <a:lnSpc>
                <a:spcPct val="145000"/>
              </a:lnSpc>
            </a:pP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>
              <a:lnSpc>
                <a:spcPct val="145000"/>
              </a:lnSpc>
            </a:pP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474091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438" y="466692"/>
            <a:ext cx="3835146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1. Tổng quan đề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3529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Phạm vi nghiên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cứu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9989820" cy="305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75000"/>
              </a:lnSpc>
              <a:buFont typeface="+mj-lt"/>
              <a:buNone/>
            </a:pPr>
            <a:r>
              <a:rPr lang="vi-VN" altLang="en-US" sz="2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-</a:t>
            </a:r>
            <a:r>
              <a:rPr lang="en-US" altLang="en-US" sz="22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Phạm vi </a:t>
            </a:r>
            <a:r>
              <a:rPr lang="vi-VN" altLang="en-US" sz="22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chức năng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: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ề tài giới hạn ở mức xây dựng website bán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iện thoại cơ bản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như đăng nhập đăng ký, tìm kiếm lọc sản phẩm và đặt hàng trực tuyến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indent="0" algn="just">
              <a:lnSpc>
                <a:spcPct val="175000"/>
              </a:lnSpc>
              <a:buNone/>
            </a:pPr>
            <a:r>
              <a:rPr lang="vi-VN" altLang="en-US" sz="2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-</a:t>
            </a:r>
            <a:r>
              <a:rPr lang="vi-VN" altLang="en-US" sz="22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Phạm vi người dùng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: Khách hàng và quản trị viên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indent="0" algn="just">
              <a:lnSpc>
                <a:spcPct val="175000"/>
              </a:lnSpc>
              <a:buNone/>
            </a:pPr>
            <a:r>
              <a:rPr lang="vi-VN" altLang="en-US" sz="2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-</a:t>
            </a:r>
            <a:r>
              <a:rPr lang="vi-VN" altLang="en-US" sz="22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Phạm vi công nghệ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: thiết kế g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iao diện: HTML5, CSS3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, JavaScript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, Bootstrap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. Xử lý hệ thống PHP.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Chạy trên môi tr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ư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ờng XAMPP</a:t>
            </a: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590042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4972685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2. Nghiên cứu lý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thuyết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3529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Công nghệ giao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diện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5749290" cy="4556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HTML</a:t>
            </a:r>
            <a:r>
              <a:rPr lang="vi-VN" sz="2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r>
              <a:rPr lang="vi-VN" sz="2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Ngôn ngữ đánh dấu cơ bản dùng để tạo và hiển thị cấu trúc các trang web.</a:t>
            </a:r>
            <a:endParaRPr lang="vi-V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CSS:</a:t>
            </a:r>
            <a:r>
              <a:rPr lang="vi-VN" sz="2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Ngôn ngữ định dạng giao diện, giúp định hình màu sắc, kiểu chữ, bố cục và hiệu ứng trang web.</a:t>
            </a:r>
            <a:endParaRPr lang="vi-V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JavaScript:</a:t>
            </a:r>
            <a:r>
              <a:rPr lang="vi-VN" sz="2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Ngôn ngữ lập trình tương tác, làm cho trang web sống động hơn, tích hợp với HTML.</a:t>
            </a:r>
            <a:endParaRPr lang="vi-V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Bootstrap:</a:t>
            </a:r>
            <a:r>
              <a:rPr lang="vi-VN" sz="2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Framework front-end phát triển nhanh, linh hoạt, hỗ trợ giao diện tương thích mọi thiết bị</a:t>
            </a:r>
            <a:r>
              <a:rPr lang="vi-VN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" name="Picture 1" descr="Bootstrap-5"/>
          <p:cNvPicPr>
            <a:picLocks noChangeAspect="1"/>
          </p:cNvPicPr>
          <p:nvPr/>
        </p:nvPicPr>
        <p:blipFill>
          <a:blip r:embed="rId3"/>
          <a:srcRect l="28910" t="20024" r="29674" b="14955"/>
          <a:stretch>
            <a:fillRect/>
          </a:stretch>
        </p:blipFill>
        <p:spPr>
          <a:xfrm>
            <a:off x="7522845" y="3746500"/>
            <a:ext cx="3787140" cy="3111500"/>
          </a:xfrm>
          <a:prstGeom prst="rect">
            <a:avLst/>
          </a:prstGeom>
        </p:spPr>
      </p:pic>
      <p:pic>
        <p:nvPicPr>
          <p:cNvPr id="3" name="Picture 2" descr="htmlcssj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355" y="886460"/>
            <a:ext cx="4351020" cy="2680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590042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4972685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2. Nghiên cứu lý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thuyết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Công nghệ kết nối dữ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liệu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5485765" cy="275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MYSQL: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là một phần mềm chuyên dụng giúp tổ chức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 trữ, truy cập và xử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dữ liệu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trên hệ thống</a:t>
            </a:r>
            <a:endParaRPr lang="en-US" altLang="en-US" sz="220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PHP: </a:t>
            </a:r>
            <a:r>
              <a:rPr lang="vi-VN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là ngôn ngữ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xử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dữ liệu, t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ơng tác với cơ sở dữ liệu, và tạo ra nội dung tự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ộng 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cho trang web</a:t>
            </a:r>
            <a:endParaRPr lang="vi-VN" altLang="en-US" sz="220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1" descr="PH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830" y="3326130"/>
            <a:ext cx="4592320" cy="2895600"/>
          </a:xfrm>
          <a:prstGeom prst="rect">
            <a:avLst/>
          </a:prstGeom>
        </p:spPr>
      </p:pic>
      <p:pic>
        <p:nvPicPr>
          <p:cNvPr id="3" name="Picture 2" descr="mysq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565" y="937260"/>
            <a:ext cx="3875405" cy="2178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590042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4972685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2. Nghiên cứu lý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thuyết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Công cụ hỗ trợ phát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triển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5542915" cy="293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GitHub: </a:t>
            </a:r>
            <a:r>
              <a:rPr lang="vi-VN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là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hệ thống quản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cho 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phép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ng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ời dùng chia sẻ mã nguồn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tìm mã nguồn và lưu trữ mã nguồn</a:t>
            </a:r>
            <a:r>
              <a:rPr lang="en-US" altLang="en-US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en-US" sz="2200" b="1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XAMP: </a:t>
            </a:r>
            <a:r>
              <a:rPr lang="vi-VN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là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môi tr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ờng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ể chạy thử và kiểm tra website trên máy tính 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cá nhân, giúp k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ết nối PHP với MySQL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và q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uản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cơ sở dữ liệu bằng công cụ phpMyAdmin</a:t>
            </a:r>
            <a:endParaRPr lang="en-US" altLang="en-US" sz="220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1" descr="git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810" y="1454785"/>
            <a:ext cx="3750945" cy="2100580"/>
          </a:xfrm>
          <a:prstGeom prst="rect">
            <a:avLst/>
          </a:prstGeom>
        </p:spPr>
      </p:pic>
      <p:pic>
        <p:nvPicPr>
          <p:cNvPr id="3" name="Picture 2" descr="xamp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230" y="3837940"/>
            <a:ext cx="4900930" cy="2753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3. Hiện thực hóa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Chức năng của hệ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thống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9989820" cy="293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Đăng nhập và đăng ký tài khoản người dùng</a:t>
            </a:r>
            <a:endParaRPr lang="vi-VN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Tìm kiếm và lọc sản phẩm</a:t>
            </a:r>
            <a:endParaRPr lang="vi-VN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Cung </a:t>
            </a:r>
            <a:r>
              <a:rPr 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cấp thông tin chi tiết về các mẫu điện thoại vớ</a:t>
            </a: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 thông tin cấu hình</a:t>
            </a:r>
            <a:r>
              <a:rPr 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giá, </a:t>
            </a: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phiên bản màu sắc</a:t>
            </a:r>
            <a:endParaRPr lang="en-US" sz="2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Quản l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giỏ hàng: Ng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ời dùng có thể thêm sản phẩm vào giỏ hàng, xóa sản phẩm, hoặc cập nhật số l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ợng sản phẩm. </a:t>
            </a:r>
            <a:endParaRPr lang="en-US" altLang="en-US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ặt hàng</a:t>
            </a:r>
            <a:r>
              <a:rPr lang="vi-VN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trực tuyến </a:t>
            </a:r>
            <a:endParaRPr lang="vi-VN" altLang="en-US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3. Hiện thực hóa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Thiết kế xử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lý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2116" r="1172" b="833"/>
          <a:stretch>
            <a:fillRect/>
          </a:stretch>
        </p:blipFill>
        <p:spPr>
          <a:xfrm>
            <a:off x="2941320" y="1994535"/>
            <a:ext cx="6761480" cy="400431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667885" y="6104890"/>
            <a:ext cx="3453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/>
              <a:t>Sơ đồ use case tổng </a:t>
            </a:r>
            <a:r>
              <a:rPr lang="vi-VN" altLang="en-US"/>
              <a:t>quát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3. Hiện thực hóa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Thiết kế giao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diện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30" name="Picture 30"/>
          <p:cNvPicPr/>
          <p:nvPr/>
        </p:nvPicPr>
        <p:blipFill rotWithShape="1">
          <a:blip r:embed="rId2"/>
          <a:srcRect t="2541" b="2060"/>
          <a:stretch>
            <a:fillRect/>
          </a:stretch>
        </p:blipFill>
        <p:spPr bwMode="auto">
          <a:xfrm>
            <a:off x="2563495" y="1994535"/>
            <a:ext cx="7065010" cy="3874135"/>
          </a:xfrm>
          <a:prstGeom prst="rect">
            <a:avLst/>
          </a:prstGeom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4312285" y="6201410"/>
            <a:ext cx="4175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Tổng quan cấu </a:t>
            </a:r>
            <a:r>
              <a:rPr lang="vi-VN" altLang="en-US"/>
              <a:t>trúc giao diện hệ </a:t>
            </a:r>
            <a:r>
              <a:rPr lang="vi-VN" altLang="en-US"/>
              <a:t>thống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đăng nhập/đăng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ký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47" name="Picture 47"/>
          <p:cNvPicPr/>
          <p:nvPr/>
        </p:nvPicPr>
        <p:blipFill rotWithShape="1">
          <a:blip r:embed="rId2"/>
          <a:srcRect l="1604" t="1963" r="2196" b="2888"/>
          <a:stretch>
            <a:fillRect/>
          </a:stretch>
        </p:blipFill>
        <p:spPr bwMode="auto">
          <a:xfrm>
            <a:off x="1410335" y="2380615"/>
            <a:ext cx="3900805" cy="3381375"/>
          </a:xfrm>
          <a:prstGeom prst="rect">
            <a:avLst/>
          </a:prstGeom>
          <a:ln>
            <a:noFill/>
          </a:ln>
        </p:spPr>
      </p:pic>
      <p:pic>
        <p:nvPicPr>
          <p:cNvPr id="48" name="Picture 48"/>
          <p:cNvPicPr/>
          <p:nvPr/>
        </p:nvPicPr>
        <p:blipFill rotWithShape="1">
          <a:blip r:embed="rId3"/>
          <a:srcRect l="1072" t="1331" r="4097" b="1825"/>
          <a:stretch>
            <a:fillRect/>
          </a:stretch>
        </p:blipFill>
        <p:spPr bwMode="auto">
          <a:xfrm>
            <a:off x="6721475" y="1835150"/>
            <a:ext cx="3928745" cy="416496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790575" y="1227455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chủ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" name="Picture 4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9" b="52053"/>
          <a:stretch>
            <a:fillRect/>
          </a:stretch>
        </p:blipFill>
        <p:spPr bwMode="auto">
          <a:xfrm>
            <a:off x="248285" y="1767205"/>
            <a:ext cx="5722620" cy="4695190"/>
          </a:xfrm>
          <a:prstGeom prst="rect">
            <a:avLst/>
          </a:prstGeom>
          <a:ln>
            <a:noFill/>
          </a:ln>
        </p:spPr>
      </p:pic>
      <p:pic>
        <p:nvPicPr>
          <p:cNvPr id="3" name="Picture 4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38" r="969"/>
          <a:stretch>
            <a:fillRect/>
          </a:stretch>
        </p:blipFill>
        <p:spPr bwMode="auto">
          <a:xfrm>
            <a:off x="6280150" y="1767840"/>
            <a:ext cx="5262245" cy="469455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23825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sản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phẩm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45" name="Picture 4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4" b="43912"/>
          <a:stretch>
            <a:fillRect/>
          </a:stretch>
        </p:blipFill>
        <p:spPr bwMode="auto">
          <a:xfrm>
            <a:off x="452755" y="1899285"/>
            <a:ext cx="5470525" cy="4518025"/>
          </a:xfrm>
          <a:prstGeom prst="rect">
            <a:avLst/>
          </a:prstGeom>
          <a:ln>
            <a:noFill/>
          </a:ln>
        </p:spPr>
      </p:pic>
      <p:pic>
        <p:nvPicPr>
          <p:cNvPr id="4" name="Picture 4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49" r="984"/>
          <a:stretch>
            <a:fillRect/>
          </a:stretch>
        </p:blipFill>
        <p:spPr bwMode="auto">
          <a:xfrm>
            <a:off x="6414135" y="1899285"/>
            <a:ext cx="5175885" cy="32994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28397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chi tiết sản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phẩm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9" name="Picture 19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0" t="6636" r="12829" b="15394"/>
          <a:stretch>
            <a:fillRect/>
          </a:stretch>
        </p:blipFill>
        <p:spPr bwMode="auto">
          <a:xfrm>
            <a:off x="2439035" y="1744345"/>
            <a:ext cx="7255510" cy="487489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23825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giỏ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hàng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56" name="Picture 56"/>
          <p:cNvPicPr/>
          <p:nvPr/>
        </p:nvPicPr>
        <p:blipFill rotWithShape="1">
          <a:blip r:embed="rId2"/>
          <a:srcRect r="911" b="1885"/>
          <a:stretch>
            <a:fillRect/>
          </a:stretch>
        </p:blipFill>
        <p:spPr bwMode="auto">
          <a:xfrm>
            <a:off x="2228850" y="1788795"/>
            <a:ext cx="8132445" cy="45034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đặt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hàng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60" name="Picture 60"/>
          <p:cNvPicPr/>
          <p:nvPr/>
        </p:nvPicPr>
        <p:blipFill rotWithShape="1">
          <a:blip r:embed="rId2"/>
          <a:srcRect l="10998" t="12072" r="10292" b="3363"/>
          <a:stretch>
            <a:fillRect/>
          </a:stretch>
        </p:blipFill>
        <p:spPr bwMode="auto">
          <a:xfrm>
            <a:off x="2167255" y="1994535"/>
            <a:ext cx="7858125" cy="463486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đơn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hàng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839" t="2195" r="2359"/>
          <a:stretch>
            <a:fillRect/>
          </a:stretch>
        </p:blipFill>
        <p:spPr>
          <a:xfrm>
            <a:off x="1421130" y="2089785"/>
            <a:ext cx="9349740" cy="4460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quản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trị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3" name="Picture 13"/>
          <p:cNvPicPr/>
          <p:nvPr/>
        </p:nvPicPr>
        <p:blipFill rotWithShape="1">
          <a:blip r:embed="rId2"/>
          <a:srcRect b="28248"/>
          <a:stretch>
            <a:fillRect/>
          </a:stretch>
        </p:blipFill>
        <p:spPr bwMode="auto">
          <a:xfrm>
            <a:off x="2364105" y="1994535"/>
            <a:ext cx="7898765" cy="378777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quản lý sản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phẩm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2" name="Picture 2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t="1663" r="10643" b="47569"/>
          <a:stretch>
            <a:fillRect/>
          </a:stretch>
        </p:blipFill>
        <p:spPr bwMode="auto">
          <a:xfrm>
            <a:off x="259080" y="2244090"/>
            <a:ext cx="6020435" cy="3801745"/>
          </a:xfrm>
          <a:prstGeom prst="rect">
            <a:avLst/>
          </a:prstGeom>
          <a:ln>
            <a:noFill/>
          </a:ln>
        </p:spPr>
      </p:pic>
      <p:pic>
        <p:nvPicPr>
          <p:cNvPr id="2" name="Picture 2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t="50831" r="10643"/>
          <a:stretch>
            <a:fillRect/>
          </a:stretch>
        </p:blipFill>
        <p:spPr bwMode="auto">
          <a:xfrm>
            <a:off x="6436995" y="2244090"/>
            <a:ext cx="5590540" cy="38023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721042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5. Kết luận và hướng phát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triển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Kết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luận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33170" y="2226310"/>
            <a:ext cx="9609455" cy="4078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2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Hoàn thiện yêu cầu 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ề ra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Website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ã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áp ứng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ợc các yêu cầu về chức n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ng cơ bản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Giao diện thân thiện, dễ sử dụng,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ảm bảo t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ơng thích trên nhiều thiết 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endParaRPr lang="vi-V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Một số hạn chế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Dữ liệu thử nghiệm chủ yếu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ợc thu thập từ Internet nên thông tin có thể bị sai lệch. Hệ thống hiện tại mới dừng lại ở mức quản l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sản phẩm với quy mô nhỏ, ch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 tích hợp các tính n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ng t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ơng tác nâng cao nh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thanh toán trực tuyến,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ánh giá từ ng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ời dùng.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721042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5. Kết luận và hướng phát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triển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Hướng phát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triển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33170" y="2342515"/>
            <a:ext cx="9609455" cy="3636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2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Nâng cao tính n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Bổ sung thêm các chức n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ng nâng cao nh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chatbot hỗ trợ t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vấn cho khách hàng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Xây dựng hệ thống gợi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sản phẩm dựa trên lịch sử tìm kiếm của khách hàng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ng c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ờng bảo mật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Triển khai các biện pháp bảo mật cao hơn, bao gồm mã hóa dữ liệu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Cải thiện hiệu xuất: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Tối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u hóa tốc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ộ tải trang và truy vấn cơ sở dữ liệu 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-2611923" y="0"/>
            <a:ext cx="7999263" cy="6858002"/>
          </a:xfrm>
          <a:custGeom>
            <a:avLst/>
            <a:gdLst>
              <a:gd name="connsiteX0" fmla="*/ 1740820 w 7999263"/>
              <a:gd name="connsiteY0" fmla="*/ 0 h 6858002"/>
              <a:gd name="connsiteX1" fmla="*/ 5440670 w 7999263"/>
              <a:gd name="connsiteY1" fmla="*/ 0 h 6858002"/>
              <a:gd name="connsiteX2" fmla="*/ 7999263 w 7999263"/>
              <a:gd name="connsiteY2" fmla="*/ 2558593 h 6858002"/>
              <a:gd name="connsiteX3" fmla="*/ 3699852 w 7999263"/>
              <a:gd name="connsiteY3" fmla="*/ 6858002 h 6858002"/>
              <a:gd name="connsiteX4" fmla="*/ 0 w 7999263"/>
              <a:gd name="connsiteY4" fmla="*/ 6858002 h 6858002"/>
              <a:gd name="connsiteX5" fmla="*/ 4299412 w 7999263"/>
              <a:gd name="connsiteY5" fmla="*/ 2558593 h 6858002"/>
              <a:gd name="connsiteX6" fmla="*/ 1740820 w 7999263"/>
              <a:gd name="connsiteY6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99263" h="6858002">
                <a:moveTo>
                  <a:pt x="1740820" y="0"/>
                </a:moveTo>
                <a:lnTo>
                  <a:pt x="5440670" y="0"/>
                </a:lnTo>
                <a:lnTo>
                  <a:pt x="7999263" y="2558593"/>
                </a:lnTo>
                <a:lnTo>
                  <a:pt x="3699852" y="6858002"/>
                </a:lnTo>
                <a:lnTo>
                  <a:pt x="0" y="6858002"/>
                </a:lnTo>
                <a:lnTo>
                  <a:pt x="4299412" y="2558593"/>
                </a:lnTo>
                <a:lnTo>
                  <a:pt x="1740820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-2611923" y="2563569"/>
            <a:ext cx="6144362" cy="4294433"/>
          </a:xfrm>
          <a:custGeom>
            <a:avLst/>
            <a:gdLst>
              <a:gd name="connsiteX0" fmla="*/ 3425035 w 4900446"/>
              <a:gd name="connsiteY0" fmla="*/ 0 h 3425032"/>
              <a:gd name="connsiteX1" fmla="*/ 4900446 w 4900446"/>
              <a:gd name="connsiteY1" fmla="*/ 1475411 h 3425032"/>
              <a:gd name="connsiteX2" fmla="*/ 2950823 w 4900446"/>
              <a:gd name="connsiteY2" fmla="*/ 3425032 h 3425032"/>
              <a:gd name="connsiteX3" fmla="*/ 0 w 4900446"/>
              <a:gd name="connsiteY3" fmla="*/ 3425032 h 3425032"/>
              <a:gd name="connsiteX4" fmla="*/ 3425035 w 4900446"/>
              <a:gd name="connsiteY4" fmla="*/ 0 h 3425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0446" h="3425032">
                <a:moveTo>
                  <a:pt x="3425035" y="0"/>
                </a:moveTo>
                <a:lnTo>
                  <a:pt x="4900446" y="1475411"/>
                </a:lnTo>
                <a:lnTo>
                  <a:pt x="2950823" y="3425032"/>
                </a:lnTo>
                <a:lnTo>
                  <a:pt x="0" y="3425032"/>
                </a:lnTo>
                <a:lnTo>
                  <a:pt x="3425035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5252085" y="2264410"/>
            <a:ext cx="63741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vi-VN" altLang="en-US" sz="4000" b="1" dirty="0">
                <a:gradFill>
                  <a:gsLst>
                    <a:gs pos="0">
                      <a:srgbClr val="8C1302"/>
                    </a:gs>
                    <a:gs pos="100000">
                      <a:srgbClr val="DE2511"/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CẢM ƠN THẦY/CÔ ĐÃ LẮNG NGHE BÀI BÁO CÁO CỦA </a:t>
            </a:r>
            <a:r>
              <a:rPr lang="vi-VN" altLang="en-US" sz="4000" b="1" dirty="0">
                <a:gradFill>
                  <a:gsLst>
                    <a:gs pos="0">
                      <a:srgbClr val="8C1302"/>
                    </a:gs>
                    <a:gs pos="100000">
                      <a:srgbClr val="DE2511"/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</a:t>
            </a:r>
            <a:endParaRPr lang="vi-VN" altLang="en-US" sz="4000" b="1" dirty="0">
              <a:gradFill>
                <a:gsLst>
                  <a:gs pos="0">
                    <a:srgbClr val="8C1302"/>
                  </a:gs>
                  <a:gs pos="100000">
                    <a:srgbClr val="DE2511"/>
                  </a:gs>
                </a:gsLst>
                <a:lin ang="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9944099" y="0"/>
            <a:ext cx="2227104" cy="1113552"/>
          </a:xfrm>
          <a:custGeom>
            <a:avLst/>
            <a:gdLst>
              <a:gd name="connsiteX0" fmla="*/ 0 w 2227104"/>
              <a:gd name="connsiteY0" fmla="*/ 0 h 1113552"/>
              <a:gd name="connsiteX1" fmla="*/ 2227104 w 2227104"/>
              <a:gd name="connsiteY1" fmla="*/ 0 h 1113552"/>
              <a:gd name="connsiteX2" fmla="*/ 1113552 w 2227104"/>
              <a:gd name="connsiteY2" fmla="*/ 1113552 h 111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7104" h="1113552">
                <a:moveTo>
                  <a:pt x="0" y="0"/>
                </a:moveTo>
                <a:lnTo>
                  <a:pt x="2227104" y="0"/>
                </a:lnTo>
                <a:lnTo>
                  <a:pt x="1113552" y="11135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4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5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6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7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8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9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0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1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2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3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4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5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6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7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8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9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20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21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22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23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4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5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6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7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8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9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0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1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2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3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4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5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6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7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8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9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0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1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2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3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4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5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6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7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8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9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4134</Words>
  <Application>WPS Presentation</Application>
  <PresentationFormat>宽屏</PresentationFormat>
  <Paragraphs>157</Paragraphs>
  <Slides>22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Microsoft YaHei</vt:lpstr>
      <vt:lpstr>Times New Roman</vt:lpstr>
      <vt:lpstr>Wingdings</vt:lpstr>
      <vt:lpstr>等线</vt:lpstr>
      <vt:lpstr>Arial Unicode MS</vt:lpstr>
      <vt:lpstr>等线 Light</vt:lpstr>
      <vt:lpstr>Calibri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飞</dc:creator>
  <cp:lastModifiedBy>Sangg Hoang</cp:lastModifiedBy>
  <cp:revision>29</cp:revision>
  <dcterms:created xsi:type="dcterms:W3CDTF">2019-01-15T11:24:00Z</dcterms:created>
  <dcterms:modified xsi:type="dcterms:W3CDTF">2026-01-08T06:29:50Z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E54D111599EC48E68F947154BC68D404_13</vt:lpwstr>
  </property>
</Properties>
</file>